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CAUSAL STUDIO</a:t>
            </a:r>
          </a:p>
          <a:p>
            <a:pPr>
              <a:spcBef>
                <a:spcPts val="1200"/>
              </a:spcBef>
              <a:defRPr sz="2200">
                <a:solidFill>
                  <a:srgbClr val="BFDBFE"/>
                </a:solidFill>
              </a:defRPr>
            </a:pPr>
            <a:r>
              <a:t>An Explainable Causal Decision Intelligence &amp; Algorithmic Recourse Platform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Ground Truth Causal Discovery, Do-Calculus &amp; Prescriptive Action Optimization</a:t>
            </a:r>
          </a:p>
          <a:p>
            <a:br/>
            <a:pPr>
              <a:spcBef>
                <a:spcPts val="3600"/>
              </a:spcBef>
              <a:defRPr sz="1400">
                <a:solidFill>
                  <a:srgbClr val="CBD5E1"/>
                </a:solidFill>
              </a:defRPr>
            </a:pPr>
            <a:r>
              <a:t>Submitted by: [Your Name] | Reg. No: [Your Roll Number]</a:t>
            </a:r>
            <a:br/>
            <a:r>
              <a:t>Faculty Guide: [Guide Name] | Department of Computer Science &amp; Engineering</a:t>
            </a:r>
            <a:br/>
            <a:r>
              <a:t>Date of Submission: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Problem Statement: The Limits of Correlation in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The Fundamental Flaw of Standard ML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Standard ML optimizes purely for statistical correlations: P(Y | X).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Confuses correlation with causation, leading to catastrophic decision policies.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Vulnerable to Simpson's Paradox: Confounders reverse apparent treatment benefits.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Example: Concluded a life-saving ICU drug was lethal because severely ill patients took it more often.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B82F6"/>
                </a:solidFill>
              </a:defRPr>
            </a:pPr>
            <a:r>
              <a:t>The Gap in Modern Explainable AI (XAI)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Passive XAI (SHAP, LIME) only explains WHY a rejection occurred.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Provides no prescriptive recourse: 'What exact actions must I take to get approved?'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Ignores physical and ethical bounds (e.g. telling a user to change their age).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Causal Studio Solution: Combines do-calculus interventions and constrained algorithmic recourse.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Theoretical Foundation: Pearl's Ladder of Causation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LEVEL 3: COUNTERFACTUALS: Structural Causal Models (SCMs)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Query: P(Y_x' | X=x, Y=y) — 'What if we had acted differently?' | Applications: Retrospective reasoning, algorithmic recourse, root-cause attribution.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LEVEL 2: INTERVENTIONS: Do-Calculus &amp; Graph Mutilation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Query: P(Y | do(X=x)) — 'What will happen if we do X?' | Applications: Active policy manipulation, Average Treatment Effect (ATE), backdoor blocking.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64748B"/>
                </a:solidFill>
              </a:defRPr>
            </a:pPr>
            <a:r>
              <a:t>LEVEL 1: ASSOCIATIONS: Bayesian Networks &amp; Standard ML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Query: P(Y | X=x) — 'What does seeing X tell us about Y?' | Applications: Passive conditional observation, correlation, predictive curve fitting.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System Architecture: 4-Layer Decision Intelligence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Layer 1: Discovery &amp; Ingestion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Tabular CSV Data Ingestion</a:t>
            </a:r>
            <a:br/>
            <a:r>
              <a:t>• PC Constraint Discovery</a:t>
            </a:r>
            <a:br/>
            <a:r>
              <a:t>• Hill-Climb BIC Search</a:t>
            </a:r>
            <a:br/>
            <a:r>
              <a:t>• Expert Prior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Layer 2: Parameterization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Bayesian Dirichlet Priors</a:t>
            </a:r>
            <a:br/>
            <a:r>
              <a:t>• Maximum Likelihood (MLE)</a:t>
            </a:r>
            <a:br/>
            <a:r>
              <a:t>• Non-Linear SCM ANMs</a:t>
            </a:r>
            <a:br/>
            <a:r>
              <a:t>• Topological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Layer 3: Causal Inference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Do-Calculus Mutilation</a:t>
            </a:r>
            <a:br/>
            <a:r>
              <a:t>• Backdoor Confounder Sets</a:t>
            </a:r>
            <a:br/>
            <a:r>
              <a:t>• ATE / CATE Estimation</a:t>
            </a:r>
            <a:br/>
            <a:r>
              <a:t>• Recourse Cost Optimizer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Layer 4: Interactive Studio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Physics DAG Diagram</a:t>
            </a:r>
            <a:br/>
            <a:r>
              <a:t>• Real-Time What-If Sliders</a:t>
            </a:r>
            <a:br/>
            <a:r>
              <a:t>• Recourse Card Generator</a:t>
            </a:r>
            <a:br/>
            <a:r>
              <a:t>• 5 Industry Benchmarks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Causal Discovery: Learning DAGs Directly from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Constraint-Based: PC Algorithm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Starts with fully connected undirected skeleton.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Systematically tests conditional independence: X _|_ Y | Z.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Uses statistical Chi-Square and G-Square tests.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Orients unshielded colliders (X -&gt; Z &lt;- Y) and applies Meek's rules.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Guarantees sound Markov equivalence class recovery.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B82F6"/>
                </a:solidFill>
              </a:defRPr>
            </a:pPr>
            <a:r>
              <a:t>Score-Based: Hill-Climb with BIC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Greedily searches DAG space via edge addition, deletion, and reversal.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Optimizes Bayesian Information Criterion (BIC):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BIC(G|D) = log P(D | theta_G) - (d / 2) * log(N).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Structural Evaluation: Structural Hamming Distance (SHD), Precision, Recall, and Graph F1-score.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Intervention Engine: Do-Calculus &amp; Backdoor Adjustment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Simulating Real-World Interventions Without Physical Experiments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Graph Mutilation: All incoming arrows into the intervention node X are severed, breaking confounding parent links.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Point-Mass CPD Injection: Sets deterministic prior distribution P(X = x) = 1.0 in the mutilated network.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Automated Backdoor Path Detection: Graph traversal algorithm identifies all confounding backdoor paths from Treatment T to Outcome 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Minimal Adjustment Set: Automatically computes adjustment set Z to satisfy: P(Y | do(T=t)) = sum_z P(Y | T=t, Z=z) * P(Z=z).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Treatment Effects: Accurately calculates Average Treatment Effect (ATE) and Conditional Treatment Effect (CATE) with bootstrap 95% confidence intervals.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Prescriptive AI: Constrained Algorithmic Recourse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Solving the Inverse Decision Problem for End Users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Objective: Find the minimal-effort set of causal interventions do(X* = x*) that flips an unfavorable prediction to favorable.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Optimization Formulation: min sum_{i in Actionable} w_i * Cost(x_i, x_i*) subject to P(Y = y_desired | do(X* = x*)) &gt;= tau.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Immutable Variable Protection: Features like Age, Race, and History are locked and cannot be altered.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Directional Actionability: Enforces directional constraints (e.g., Education, Experience can only increase; Debt can only decrease).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Sparsity Guarantee: Recommends the smallest number of simultaneous feature changes to ensure practical feasibility.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Literature Survey: State of the Art (2023 - 2026)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011680"/>
                <a:gridCol w="2194560"/>
                <a:gridCol w="219456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Merits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Demerits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Karimi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Survey on Algorithmic Recourse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SCM Action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Bridges XAI &amp; causal actions; formalizes feasibility.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Assumes known SCM; high computation on large graphs.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Pearl &amp; Bareinboim (2024)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External Validity &amp; Generalizability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Do-Calculus &amp; Transportability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Mathematical guarantees for cross-domain transfer.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Requires formal cross-domain selection diagrams.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Sanchez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Causal ML for Healthcare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Backdoor Adjustment in EHR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Eliminates treatment assignment bias in clinical trials.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Positivity violations on sparse patient records.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Mahajan et al. (2024)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Recourse Under Causal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Bounding CF Probabilities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Robust recourse when DAG is partially unknown.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Produces conservative recommendations with higher cost.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Vowels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D'ya Like DAGs? Practical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NOTEARS vs PC vs Hill-Climb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Comprehensive speed and recovery benchmarks.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Continuous DAG search yields cyclic errors in finite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Chattopadhyay et al. (2025)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Neural Causal Models for Credit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Tabular Recourse Optimization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Satisfies fair-lending regulatory compliance.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Search space scales exponentially with discrete bins.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Empirical Validation: 5 Real-World Domain Suites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Fintech: Credit Risk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Target: Loan Approval</a:t>
            </a:r>
            <a:br/>
            <a:r>
              <a:t>• Features: Income, Savings, Credit Score</a:t>
            </a:r>
            <a:br/>
            <a:r>
              <a:t>• Recourse: +56.3% approval gain by shifting Credit Score (0 -&gt;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Healthcare: Sepsis Treatment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Target: Patient Recovery</a:t>
            </a:r>
            <a:br/>
            <a:r>
              <a:t>• Confounder: Disease Severity</a:t>
            </a:r>
            <a:br/>
            <a:r>
              <a:t>• Result: Successfully isolated true +22.5% treatment benefit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E-Commerce: Customer Churn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Target: Churn Prevention</a:t>
            </a:r>
            <a:br/>
            <a:r>
              <a:t>• Features: Support Calls, Spend, Discount</a:t>
            </a:r>
            <a:br/>
            <a:r>
              <a:t>• Uplift: Targeted discount to save at-risk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Education &amp; HR Analytics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• Education: Study Hours &amp; Attendance -&gt; Exam Pass</a:t>
            </a:r>
            <a:br/>
            <a:r>
              <a:t>• HR: Experience &amp; Training -&gt; Employee Promotion</a:t>
            </a:r>
            <a:br/>
            <a:r>
              <a:t>• Actionable career development recourse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Critical Analysis: Merits &amp; Demerits of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66534"/>
                </a:solidFill>
              </a:defRPr>
            </a:pPr>
            <a:r>
              <a:t>Platform Merits &amp; Strengths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✓ Confounder Elimination: Eliminates Simpson's Paradox using do-calculus.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✓ Prescriptive Actionability: Delivers actionable interventions, not just static SHAP scores.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✓ Safety &amp; Ethics: Protects immutable features and enforces directional constraints.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✓ End-to-End Pipeline: Unified Discovery -&gt; Parameter Fitting -&gt; Recourse -&gt; Interactive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EF4444"/>
                </a:solidFill>
              </a:defRPr>
            </a:pPr>
            <a:r>
              <a:t>Platform Limitations &amp; Assumptions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⚠ Causal Sufficiency: Assumes all major confounders are observed in data.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⚠ Combinatorial Complexity: Exact DAG search is NP-hard on &gt;50 variables.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⚠ Discretization Trade-off: Tabular discrete Bayesian networks require binning continuous data.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⚠ Sample Size Dependency: Conditional independence tests require adequate sample sizes.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Interactive Web Studio: Zero-Code Decision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Tab 1: Causal Graph &amp; Discovery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Physics-based interactive dynamic DAG visualizer (PyVis).</a:t>
            </a:r>
            <a:br/>
            <a:r>
              <a:t>• Drag-and-drop node layout with zoom and connectivity inspection.</a:t>
            </a:r>
            <a:br/>
            <a:r>
              <a:t>• Structural metric displays (SHD, Precision, Recall, BIC).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Tab 2: Do-Calculus &amp; Interventions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Interactive intervention selectors for do(Treatment = x).</a:t>
            </a:r>
            <a:br/>
            <a:r>
              <a:t>• Automatic backdoor path detector and minimal adjustment set indicator.</a:t>
            </a:r>
            <a:br/>
            <a:r>
              <a:t>• Real-time before-and-after probability distribution shift bar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Tab 3: Algorithmic Recourse Cards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Select any individual profile row from data or build custom profile.</a:t>
            </a:r>
            <a:br/>
            <a:r>
              <a:t>• Set desired outcome goal and confidence threshold.</a:t>
            </a:r>
            <a:br/>
            <a:r>
              <a:t>• Generates top-3 minimal-cost action cards with probability gains.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Tab 4: Probability &amp; CPD Explorer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Live tabular dataset filtering and histogram visualizers.</a:t>
            </a:r>
            <a:br/>
            <a:r>
              <a:t>• Direct inspection of underlying Conditional Probability Distributions.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CAUSAL STUDIO DECISION PLATFORM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Conclusion &amp; Future Research Horizons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Summary of Key Contributions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• Established an end-to-end Causal Decision Platform unifying Causal Discovery, Parameter Learning, Do-Calculus, and Algorithmic Recourse.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• Demonstrated that moving from Level 1 Association to Level 2/3 Interventions prevents catastrophic policy errors in high-stakes decisions.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• Verified with 18 automated unit and integration tests across 5 real-world benchmark datasets.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• Future Scope 1: Latent Confounder Handling via Fast Causal Inference (FCI) and Instrumental Variables (IV).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• Future Scope 2: Neural SCMs using normalizing flows for high-dimensional image and longitudinal time-series recourse.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• Future Scope 3: Multi-Agent Strategic Recourse modeling how populations adapt to changing decision policies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BFDBFE"/>
                </a:solidFill>
              </a:defRPr>
            </a:pPr>
            <a:r>
              <a:t>Causal Studio Decision Intelligence Platform</a:t>
            </a:r>
          </a:p>
          <a:p>
            <a:pPr algn="ctr">
              <a:spcBef>
                <a:spcPts val="2400"/>
              </a:spcBef>
              <a:defRPr sz="1800">
                <a:solidFill>
                  <a:srgbClr val="E2E8F0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